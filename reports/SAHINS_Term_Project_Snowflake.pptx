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34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65" r:id="rId6"/>
    <p:sldId id="263" r:id="rId7"/>
    <p:sldId id="267" r:id="rId8"/>
    <p:sldId id="260" r:id="rId9"/>
    <p:sldId id="269" r:id="rId10"/>
    <p:sldId id="264" r:id="rId11"/>
    <p:sldId id="270" r:id="rId12"/>
    <p:sldId id="266" r:id="rId13"/>
    <p:sldId id="268" r:id="rId14"/>
    <p:sldId id="273" r:id="rId15"/>
    <p:sldId id="274" r:id="rId16"/>
    <p:sldId id="278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582"/>
  </p:normalViewPr>
  <p:slideViewPr>
    <p:cSldViewPr snapToGrid="0">
      <p:cViewPr varScale="1">
        <p:scale>
          <a:sx n="125" d="100"/>
          <a:sy n="125" d="100"/>
        </p:scale>
        <p:origin x="252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B6C9D-FAFD-0847-A374-D5E02D48FC5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43039-B054-6242-B0E8-A6653DB8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5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60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33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0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44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23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38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21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66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50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60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34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13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2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CDF57-8C8B-7594-CE4B-6E80E53A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12578-D7B5-CA52-DD53-FDC59F435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F9047-CDB2-B6B8-B839-184D28979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10735-168D-645E-B6EA-76787D754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88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FF4C-B1A9-4A99-A303-140FD3226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17F55-017F-8A13-3ECA-612DBBEDC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ED1A9-948B-2023-A3B6-43B87BA54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18F13-B309-0376-4A3F-7F5B46748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31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EFBA7-E25F-5E9F-2AA0-E7D5ACA2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48C61-16D6-9DD2-50F4-F4B10A046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3D88B-3393-4426-0BA0-56FE1E7F7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3D964-BA9B-E657-5A79-2388C8C6A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52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F1FB7-4898-BCD5-2EB7-B93E7D18C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09F02-5458-6651-9D96-8C3B892FD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8C962-79A6-E40E-1CD7-4BBD73847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1A25F-BAAC-5112-12E5-CDEC74EDC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43039-B054-6242-B0E8-A6653DB86C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8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CE3B6E3-C987-8A44-9459-48D1E03516D2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8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D0CFC-CFA7-2D41-B46B-6D51AF215972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8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387FAE-FBBB-3B47-8778-D7B990EC10EC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80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DC67-3221-4B44-8B7B-1688969EE58B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8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9329-D338-9A47-A034-026D12018806}" type="datetime1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4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19A1-1C51-F94F-86DD-6C1E8FD07C27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3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4246E-AE0E-314D-BDD5-FF22626132BA}" type="datetime1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2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E6A488C-9F90-8043-B573-53BE3913A424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0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B020-4468-A742-848C-8F7D915AEA8A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0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99A4-0BAD-3142-AACE-9A00A383E695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03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A825C81-5169-674E-862F-AEDBC1C89429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C7B9266-4C05-284E-9C30-490C7BD66756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28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bricks.com/glossary/medallion-architecture" TargetMode="External"/><Relationship Id="rId3" Type="http://schemas.openxmlformats.org/officeDocument/2006/relationships/hyperlink" Target="https://docs.snowflake.com/en/sql-reference/constraints-overview" TargetMode="External"/><Relationship Id="rId7" Type="http://schemas.openxmlformats.org/officeDocument/2006/relationships/hyperlink" Target="https://docs.snowflake.com/en/user-guide/data-time-trave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snowflake.com/en/user-guide/tables-clustering-keys" TargetMode="External"/><Relationship Id="rId5" Type="http://schemas.openxmlformats.org/officeDocument/2006/relationships/hyperlink" Target="https://docs.snowflake.com/en/user-guide/ui-query-profile" TargetMode="External"/><Relationship Id="rId4" Type="http://schemas.openxmlformats.org/officeDocument/2006/relationships/hyperlink" Target="https://docs.snowflake.com/en/user-guide/queries-cte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D5EAA-9D03-4375-6AF8-8871486D2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9960" y="1507414"/>
            <a:ext cx="7295507" cy="37033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Operational Metadata Modeling and Pipeline Observability in Snowflake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5656A-40CA-5FE2-7FFE-7C9B657A8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3" y="5048347"/>
            <a:ext cx="1852914" cy="724798"/>
          </a:xfrm>
          <a:ln w="57150">
            <a:noFill/>
          </a:ln>
        </p:spPr>
        <p:txBody>
          <a:bodyPr anchor="ctr">
            <a:normAutofit/>
          </a:bodyPr>
          <a:lstStyle/>
          <a:p>
            <a:pPr algn="r"/>
            <a:r>
              <a:rPr lang="en-US" sz="2000" dirty="0"/>
              <a:t>SEDAR SAHIN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EACD86-34E9-CCD7-D7B1-9535E152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8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01BB5-5CCD-9882-3304-80E1DFCB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6BEBD5-A373-4C8C-8C06-CD8007E22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A97CA5D-BCDD-4F61-B77F-34068368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80117C-7F39-43C5-86D0-1B3E99AB5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7574B-677F-9AE3-4267-213FB87D4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Industry Problem: Limited Pipeline Observability in Modern Data Platforms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A9BB93-2DF4-4EFD-94C3-A0CC895CD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0B3C702-83B2-4274-BF5A-C42475E28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B7BEE93-7680-4E07-8B35-53D4D53F2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26784A-218C-4257-AC79-DD5BC6EF9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0759681E-A7AC-CCC4-14AB-B64A92DC2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2" y="2180496"/>
            <a:ext cx="11029615" cy="36783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Difficult downstream impact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Limited execution traceability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Semi-structured ingestion trade-offs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Governance without enforced constraints</a:t>
            </a:r>
          </a:p>
          <a:p>
            <a:pPr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09D39-0275-EF85-A305-0CB889FE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69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BE8AD-D3F7-F95A-E26F-F847FA23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8688A91-B562-D2D2-7A18-3B7BD02B7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1A7E43-E53E-E8F6-B26D-27F7E07A0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28BAC1-69C5-2927-FD67-78F275DE6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1C0F28-9CB4-380E-95F6-1961EE3DC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5E2EB3-AC7E-F4E4-B3DB-11E0B2AEA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00A674-914B-E592-C4FA-EFC520713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B7BCF-87E9-16EC-1532-38BF727F4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PROJECT OBJECTIVE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4C2142E-B000-3B09-6033-40A782F8C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9461C2B-5E09-A76B-A837-FEB08805A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9DD9FDA-507D-DF8C-F46B-47593F660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CC07F0-8DD8-0420-33E8-43597F464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2129A0FF-B18A-6BF6-01F2-C9D5CAFED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2" y="2180496"/>
            <a:ext cx="11029615" cy="36783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Design operational metadata schema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Enable recursive lineage traversal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Analyze distributed query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Evaluate clustering &amp; pruning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Implement governance &amp; temporal tracking</a:t>
            </a:r>
          </a:p>
          <a:p>
            <a:pPr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132143-3528-7268-3CF9-9E1FB762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90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B1004-CEC2-CDCD-6BF8-61B67F95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8B7D6D84-9C5E-42BE-A177-E8BA043AC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9D7E4E9-6B4B-5C7F-708E-B09E6FA42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FDE331-3AC4-4E21-670A-69E7C52E0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543386E-9A9C-7C1C-8806-657F1EB53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48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ABB1AC9-9B71-DE86-AACB-6BFCFACF9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968BC2-BF87-7FA2-7854-497A77DC4E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99" cy="67594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E2383-BCC2-5A58-1878-F637FD18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2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EF09D-958F-A166-F9FB-F690AAC5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446844-CA36-773D-E375-C1F3C6ED4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431B9A-8CA4-CEC2-5B07-B059233C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81D2DE-C4DB-B509-CC42-CE18C45A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6E52F7-9D5F-9F88-10DF-24855098D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E59E377-CEE9-DA93-DAC7-FE130B65D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85923E-E18D-02D3-F91C-9F9561174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C23E8-153C-B31A-4A85-217E5A135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Positioning the OPS Layer in Modern Data Architecture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32D11E-5552-6645-8829-04480ECE2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504F71A-D52F-DF81-8173-C3C6D0E43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02F268C-1585-F56D-90BA-AF0BAF3F9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93D53E-4744-75F7-FC13-9BE5E9D57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73AAE28F-703E-5E26-774B-568E69920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2147" y="2180496"/>
            <a:ext cx="3568660" cy="36783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Bronze/Silver/Gold store business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OPS schema stores operational metadata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Observes pipelines across all layers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Enables lineage, monitoring, and governance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1BBEFA-FBD5-985C-14B2-05C126C0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5</a:t>
            </a:fld>
            <a:endParaRPr lang="en-US"/>
          </a:p>
        </p:txBody>
      </p:sp>
      <p:pic>
        <p:nvPicPr>
          <p:cNvPr id="16" name="Picture 15" descr="A diagram of a company&#10;&#10;AI-generated content may be incorrect.">
            <a:extLst>
              <a:ext uri="{FF2B5EF4-FFF2-40B4-BE49-F238E27FC236}">
                <a16:creationId xmlns:a16="http://schemas.microsoft.com/office/drawing/2014/main" id="{45405977-F69B-9F54-96A0-37077B83A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94" y="2085501"/>
            <a:ext cx="7305719" cy="372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15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7CD49-1133-BB7F-F6FC-24E3EDB7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903179C-83BA-5F5F-DDC9-BA075993E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390BE8-5642-D6F3-001D-F766EAF82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581C88-82C6-766F-E959-AE19471CF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B4EA19-651B-F6B2-0F70-10FD6C6AE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B61AA33-BAD6-FCC0-90B4-55B0A6D90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E83A8B-CF79-1828-2FA8-525AF3B4A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632BD-54E3-B72B-8280-7DEDE7ED4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PROJECT OBJECTIVE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26194DE-C40D-688B-69DA-A77CD9C12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FEC3FFD-3BF3-17FE-AA47-C6FBA89B3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AF32C03-68D2-0D65-60CF-94397471C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DD9891-7330-AE06-4218-A8B7473C0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EDDFED3E-104A-8FA3-E78A-A20D0F47D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51145" y="2131070"/>
            <a:ext cx="2593013" cy="4024774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Centralized operational metadata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Clear separation of pipeline vs dataset responsibilities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Execution traceability across distributed compute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Foundation for lineage and monitoring layers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b="1" u="sng" dirty="0">
                <a:solidFill>
                  <a:schemeClr val="bg2">
                    <a:lumMod val="50000"/>
                  </a:schemeClr>
                </a:solidFill>
              </a:rPr>
              <a:t>Normalization is foundational — observability and optimization are the primary contributions.</a:t>
            </a:r>
          </a:p>
          <a:p>
            <a:endParaRPr lang="en-US" sz="1400" dirty="0"/>
          </a:p>
          <a:p>
            <a:pPr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0B712-F68D-4F63-F094-669B3AB1B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520" y="163726"/>
            <a:ext cx="8910105" cy="62370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605E-77CD-CB47-1411-8937FBCC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70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7A0E-73CA-9930-DFC7-07EDEF59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B7B10D2-3EA4-4265-BDC0-9FED47138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23DAB5-A221-DED6-1835-EDB1BD64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ED4AF0-9FBF-7309-F1B2-3812C9D5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817BCA-8895-BF3C-87C4-A577097C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FD90855-BECA-7838-DEF1-5C3662DA9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D80819-4AFC-AEDA-BDB8-015C84409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BC657-E198-1718-FB1F-21F34FEFB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9806" y="702355"/>
            <a:ext cx="2260417" cy="72883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Graph-Based Lineage Modeling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45ED11-27E1-698E-8D46-51BA40672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C99DFA-9C5E-FA66-B94F-E5BA42D81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B221C1-3169-1747-BDD3-CBFB897BD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94C47E-F5BC-8E2B-5D21-42EB02CC1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7EEFE93F-EBC7-C7FD-A6AC-C359EF4AC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9806" y="2677751"/>
            <a:ext cx="2593013" cy="3306203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Directed Acyclic Graph (DAG) representation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Upstream and downstream dataset dependencies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Many-to-many dataset relationships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Foundation for recursive transitive closure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Designed to represent DAG structure; cycle detection handled at query level.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/>
          </a:p>
          <a:p>
            <a:pPr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8B6074-C752-F68B-DBD5-2E5D51FB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520" y="163726"/>
            <a:ext cx="8910105" cy="62370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E18A7-2840-8ABA-5C9C-1548EE69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4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B04BE-0B05-E901-4E52-74697D34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D630909-6F5E-CF07-6149-02226758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3FB205-C6C5-460C-17FD-52619801D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D8F7CD-E0ED-FEBF-462F-EEDEC0D5F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CC5CAA-B523-6A42-9FDA-3262891DB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50108DC-3A84-1690-8732-D70E72360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9BCC93-40C0-EACF-CD4D-098306CC0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D6734-DD48-3FCF-8F87-D83711E39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Recursive Lineage Traversal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417664-EB01-6E6E-61B2-AFB49967C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2D3282D-B206-452D-2C32-B1623C891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3490EF-14A1-6305-0614-7A1B66B39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26C9FD-4EFC-DECF-81B5-D34E6F5A5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1157C49-39BA-EFD5-147E-5AB297FA2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1454"/>
            <a:ext cx="3975253" cy="435213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6BCE0C-33FF-5FD8-C763-4BD7BE391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738" y="2159048"/>
            <a:ext cx="8245685" cy="3290282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20EEE7-7938-CDE7-9C5F-31F26A87A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98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9DC39-AFC8-C9BB-3774-7374C04F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09B79D-DF23-058F-B542-D141B71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70C1D4-B993-A5A7-9A8B-8C494878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F69BC4-9CE0-8D2D-4719-F84A1977A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28225B-BEE5-D4C9-79E6-3142584B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1B747A2-6A57-9375-8D0C-E3D6E870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8CED49-9A4A-071A-47EB-3A035C462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19FB8-C91D-12D3-6DC3-825C71A54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Logical Plan Analysis with EXPLAIN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EB2DA20-C86A-9D4C-1F66-E8C380574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988EE2A-C51D-0AD0-A804-8653FEE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964186B-AB5F-C78F-0CB7-5600AC6AA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757123-C8C2-094B-C49B-1ADE8B7490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09414-7B40-6D4D-D493-511CE6D8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D2619DE-A4AF-70AA-2901-7FECE2C34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69" y="1891454"/>
            <a:ext cx="3597402" cy="4140075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371812-91A4-9A9C-B202-8D2DFCE8D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371" y="1895739"/>
            <a:ext cx="8035007" cy="23230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4925A8-8A42-613F-C25E-39F2A838F206}"/>
              </a:ext>
            </a:extLst>
          </p:cNvPr>
          <p:cNvSpPr txBox="1"/>
          <p:nvPr/>
        </p:nvSpPr>
        <p:spPr>
          <a:xfrm>
            <a:off x="4366261" y="4568886"/>
            <a:ext cx="60938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cap="all" dirty="0">
                <a:solidFill>
                  <a:schemeClr val="bg2">
                    <a:lumMod val="50000"/>
                  </a:schemeClr>
                </a:solidFill>
              </a:rPr>
              <a:t>EXPLAIN shows logical operator tree; Query Profile shows distributed execution costs.</a:t>
            </a:r>
          </a:p>
        </p:txBody>
      </p:sp>
    </p:spTree>
    <p:extLst>
      <p:ext uri="{BB962C8B-B14F-4D97-AF65-F5344CB8AC3E}">
        <p14:creationId xmlns:p14="http://schemas.microsoft.com/office/powerpoint/2010/main" val="397400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0F15F-713D-BD95-524F-32F9DACC1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298AEA-1F45-5CFD-67A2-FA96ECD03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2C3FE2-4DCD-A473-09A7-BCF92E1B1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EDB0E0-3724-BC61-6EB4-84C020D6D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4B40E4-6180-B7AE-E851-3410F3FF0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D0DE641-AC47-0FA7-55AF-B8FC3B61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5196B8-8D5A-36A2-2071-C553D9B6D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6A863-3146-D2DF-BB8A-6D67B4460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Distributed Execution Analysis (Query Profile)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F5D0A3-3E3E-6C87-9163-EF12D3682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8205889-7C38-2EE4-4CFF-0DF406CEB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3A2E52-FF35-CE9D-7D7D-E8DDADAAA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931F74-04F4-C566-8F6A-F400C95F4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BCC74568-439A-2074-4201-B0BD72E17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649" y="2392740"/>
            <a:ext cx="3109362" cy="3763104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Recursive query executed in distributed engine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Join-dominant workload observed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Micro-partition scan behavior analyzed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Processing vs synchronization cost breakdown</a:t>
            </a:r>
          </a:p>
          <a:p>
            <a:pPr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755C8F4-82F1-6387-C0DB-77A19C0E3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01" y="1865915"/>
            <a:ext cx="3920824" cy="4925909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6E64F51B-5F71-78C3-2616-8F0CD6D30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226" y="1865915"/>
            <a:ext cx="2734098" cy="499010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5BAB34-6BCE-1A82-EB85-EA9F66B2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29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910A5-BF6F-C01A-67AF-7BFD700D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D07DD7-054A-BF45-DC6A-C19E0C983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704C26-7BBF-7520-C303-A56C59734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2D9817-2A20-E3B6-30F2-99DF3C565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36D8FC-D047-3615-7C28-DD2D616C2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8A212C0-B856-F716-2D99-4A620A398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831D8B-820D-5F6E-1D32-6943AAE43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E2BD0-421C-5EA6-D82F-1BA404DD7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Clustering Strategy &amp; Micro-Partition Evaluation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4059A-0BC8-7634-DE30-436346A72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7FBF71-6994-C773-02AC-648A439C1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E098FE-8F63-6A3D-9581-905416078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B4AE20-E778-E0D5-86F2-DE8C0364E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083DB68F-02CC-03CD-9D35-F210DDA63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649" y="2392740"/>
            <a:ext cx="3109362" cy="3763104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Recursive workload is join-dominant (~70%)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Partition pruning unchanged after clustering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Scan reduction ≠ runtime reduction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Optimization must align with workload pattern</a:t>
            </a:r>
          </a:p>
          <a:p>
            <a:pPr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406F430A-E136-8FC3-0834-42C4B3AB2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67" y="1803705"/>
            <a:ext cx="2673178" cy="5064968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77DFC0E7-9024-2CA0-AA11-E5A89D8C5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917" y="1793032"/>
            <a:ext cx="2790233" cy="5064968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37049F-4122-329C-AA32-D681DCA6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39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FD22C-7BE3-6E9D-D6BB-AB4BBB0F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F57E53-7B36-A315-B6E1-27C83A491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4AE805-D2E6-DE78-D190-1658B36C3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811F7B-E4EA-8AB9-FFEB-30DF4B184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0F3A83-C163-7DAB-1AB7-F173844D9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ECB791A-F455-3563-6625-30333050A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428F71-BC7A-32F1-4F0B-BC1A67EEF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13466-62DF-81F9-5BAB-98F80ED65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Semi-Structured Operational Metadata with VARIANT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519DFA-53CE-042F-BAA2-8B9361B03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F861B3-5F5F-F8E1-C30B-B8420ADE0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823670-FEDA-37B3-2C21-88959017E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3765B6-C6DC-945D-758D-6F0086531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4C469225-E9F6-0FAC-2C18-EDD8648F7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6618087" y="2016067"/>
            <a:ext cx="4601847" cy="1189298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br>
              <a:rPr lang="en-US" sz="20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VARIANT is Snowflake’s native semi-structured data type </a:t>
            </a: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</a:rPr>
              <a:t>Snowflake stores VARIANT in columnar micro-partitions.”</a:t>
            </a:r>
            <a:br>
              <a:rPr lang="en-US" sz="2100" dirty="0">
                <a:solidFill>
                  <a:schemeClr val="bg2">
                    <a:lumMod val="50000"/>
                  </a:schemeClr>
                </a:solidFill>
              </a:rPr>
            </a:br>
            <a:endParaRPr lang="en-US" sz="2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A53542-AEBD-1DC5-2722-8C0C4C95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3B2CA0-BE30-F041-EDA7-596B3F9B0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093861"/>
            <a:ext cx="10281614" cy="1214422"/>
          </a:xfrm>
          <a:prstGeom prst="rect">
            <a:avLst/>
          </a:prstGeom>
        </p:spPr>
      </p:pic>
      <p:pic>
        <p:nvPicPr>
          <p:cNvPr id="12" name="Picture 11" descr="A computer code with text&#10;&#10;AI-generated content may be incorrect.">
            <a:extLst>
              <a:ext uri="{FF2B5EF4-FFF2-40B4-BE49-F238E27FC236}">
                <a16:creationId xmlns:a16="http://schemas.microsoft.com/office/drawing/2014/main" id="{C252E111-17DB-A682-3C2E-144B9AA4F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1891454"/>
            <a:ext cx="5155610" cy="185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08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947A8-1C08-5840-B270-677A79C6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7315A7-6E87-346E-A932-3BD88CEF1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D0EE0C-4A43-97FD-BD6A-45800F33E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94B1E4-FA0A-8FA8-DB51-70F4FF64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5CE5D8-6390-A747-6A50-07B1C877D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CD48EC0-1435-C9BA-0A16-3629BBAA8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AC6299-7404-84D2-F10D-38C07FE00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8314F-4C31-9562-7A2D-3D724FA01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82" y="925431"/>
            <a:ext cx="11029616" cy="5753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Temporal Querying &amp; Recovery  with Snowflake  Time Travel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FC7A83-A15E-D5B0-1834-A9BA247B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8D35950-5BDA-2FFD-C74F-5507F9133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BDDC9AB-427F-9876-E18B-B3905082A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50DC51-7BC2-CDC1-73B0-E74152567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213A8E6E-E09C-23FA-6053-052CFCDEF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2180496"/>
            <a:ext cx="2755132" cy="3678303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Query historical versions of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Recover accidentally modified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Zero-copy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Configurable retention period</a:t>
            </a:r>
          </a:p>
          <a:p>
            <a:endParaRPr lang="en-US" b="1" dirty="0"/>
          </a:p>
          <a:p>
            <a:r>
              <a:rPr lang="en-US" b="1" dirty="0"/>
              <a:t>Time Travel is metadata-based, not full data duplication.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28BD3-D9A1-5665-5EB5-170CB6C9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805390B-097A-281A-B7B8-0E674C762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307" y="2241550"/>
            <a:ext cx="55245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90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47F00-33F4-FAB9-5C8B-D83994D8A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2AFC346-0C20-53FD-DD78-0525F6644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9A8417-C8BC-385F-0D93-4A0CC5E27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A37550-5F0D-0177-D6C7-11D2739F8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75656D-94D9-1044-9175-A107C9B25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DD60FCC-4C59-9DCE-3E1A-605CF6488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9E4AF2-010E-A7A7-35A9-6991BE9E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4DB3C-4266-7AF2-5D2F-36CAAC98E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SLA Monitoring &amp; Operational Observability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C15F64D-64AB-B6EE-0D5B-1C1F85EDF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0FBCDF2-AB63-D5E9-3156-3A203262E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A9B944-C61D-C42A-E678-132E2536B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B495B0-2A55-3C99-CAB7-A4D49DD82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024C8996-D8C1-6B81-D190-F13E20242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2147" y="2180496"/>
            <a:ext cx="3568660" cy="36783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Per-run SLA breach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Aggregated job-level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Runtime-based threshold 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Operational alerting capability</a:t>
            </a:r>
          </a:p>
          <a:p>
            <a:pPr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0FC80E-AABE-8000-11E3-97A4131DD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44EAFEC-F11C-750E-5083-84314BBA1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86" y="1865915"/>
            <a:ext cx="4958345" cy="485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026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4B247-184F-2DEE-4B52-7CDBFC8BC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F2BF96-AC63-8ADB-B8FD-8A779AFB6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2D6092-2068-1502-5A60-C1F64960F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52E1B1-BDA8-8D54-4574-BA4FD8C55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23ED18-70D6-7840-5EA6-8E9E50FA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B74C1CD-0135-F680-4F51-3802A3197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5E2744-2CE6-39D2-9AAF-99FB84F7D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F2EBD-E969-D8B6-A25D-17605973D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Operational Failure Monitoring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32ED652-1362-68CF-326C-7D5D12636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21FBF5-01ED-DC84-7E0C-74DD7D9A57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696C247-F3EB-8BED-41F4-81DE7230C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08986D-E6FA-5C40-F051-D97EFBB5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3C642614-1203-7789-C387-191CFDF50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326" y="4811683"/>
            <a:ext cx="3603491" cy="1189298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Unified pipeline-level failure visibility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Joins execution runs with status and failure logs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Displays error codes and error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Ordered by most recent execution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5629F1-2E03-0D29-094D-92D79B8D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41EA74-7FE3-118C-3EFA-A7D5ADEAB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457" y="1868133"/>
            <a:ext cx="7598010" cy="3561770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FDF67CC-B889-B7B6-B9BC-93648428D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22" y="1865915"/>
            <a:ext cx="3287532" cy="229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61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4B13A-B69D-10EA-81C8-33A22855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B3C9CEA-835B-9410-9D98-9A5FCDC99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C4E150-CF85-FC02-5163-0F43063D6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4DC795-589B-44DF-8462-813F3954C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D3D361-C016-F970-B8B1-2F4927A9E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D49C44E-94F8-AC5A-F314-21A5C7738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0EFE-1D90-40BB-7A78-A0B6FB793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71A03-1C7C-A3C5-E0E5-881A85A0D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Data Quality Observability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5F6A1B-7FD6-6D58-217A-15299E654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62ADF9F-D7FD-5496-8897-8DE96995A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A546E45-99D3-E1EC-7CF1-68AF37106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CA6D7A-A003-AB1C-E73F-EF01CAD6C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58AD1B5D-7246-A212-4DF5-49B12E63A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326" y="4811683"/>
            <a:ext cx="3603491" cy="1189298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Connects DQ rules to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Flags blocking vs non-blocking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Displays metric values and pass/fail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Enables rule-level monitoring over time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21F2B-3BE6-608F-7D03-4E5D1E47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1DD16-1C1E-858C-5FFD-197171BF0A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87691" y="1891454"/>
            <a:ext cx="7598010" cy="3344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FCDE87-B8FD-8B1E-8FE7-DFA10B1B9C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0286" y="1891454"/>
            <a:ext cx="3287532" cy="203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07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BCDAF-9294-B61E-3F76-ADB3F7C5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0DE225-A513-551A-E09A-DF8FB9BC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12D3F-7654-582B-70A8-8A12A07BA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2DF9A8-16B4-019E-A965-3177B4517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7E10B7-7D40-1AE3-E7EE-FD2F4CD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4F7FC13-735E-1F96-4004-ADDB83253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460D61-B0C6-C987-E594-EB0E06437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439F1-B164-CC42-3AE8-59A9B5CC5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REFERENCES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E2EB5C-5449-F20F-567F-9AEE8B0A5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0E27F0-0786-2597-9818-43C4D13464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D6F9E96-7C72-3C2E-94D6-070FA6714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1DDF7E-5F2D-3D0E-A104-D15EADB41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6AB5DB04-48EC-FF7C-FF3C-6ACB05787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914" y="2180496"/>
            <a:ext cx="10935893" cy="4063097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r>
              <a:rPr lang="en-US" sz="2000" dirty="0"/>
              <a:t>Snowflake Inc. (2025). </a:t>
            </a:r>
            <a:r>
              <a:rPr lang="en-US" sz="2000" b="1" dirty="0"/>
              <a:t>Referential Integrity Constraints</a:t>
            </a:r>
            <a:br>
              <a:rPr lang="en-US" sz="2000" dirty="0"/>
            </a:br>
            <a:r>
              <a:rPr lang="en-US" sz="2000" dirty="0">
                <a:hlinkClick r:id="rId3"/>
              </a:rPr>
              <a:t>https://docs.snowflake.com/en/sql-reference/constraints-overview</a:t>
            </a:r>
            <a:endParaRPr lang="en-US" sz="2000" dirty="0"/>
          </a:p>
          <a:p>
            <a:r>
              <a:rPr lang="en-US" sz="2000" dirty="0"/>
              <a:t>Snowflake Inc. (2025). </a:t>
            </a:r>
            <a:r>
              <a:rPr lang="en-US" sz="2000" b="1" dirty="0"/>
              <a:t>Recursive Common Table Expressions (CTEs)</a:t>
            </a:r>
            <a:br>
              <a:rPr lang="en-US" sz="2000" dirty="0"/>
            </a:br>
            <a:r>
              <a:rPr lang="en-US" sz="2000" dirty="0">
                <a:hlinkClick r:id="rId4"/>
              </a:rPr>
              <a:t>https://docs.snowflake.com/en/user-guide/queries-cte</a:t>
            </a:r>
            <a:endParaRPr lang="en-US" sz="2000" dirty="0"/>
          </a:p>
          <a:p>
            <a:r>
              <a:rPr lang="en-US" sz="2000" dirty="0"/>
              <a:t>Snowflake Inc. (2025). </a:t>
            </a:r>
            <a:r>
              <a:rPr lang="en-US" sz="2000" b="1" dirty="0"/>
              <a:t>EXPLAIN and Query Profile</a:t>
            </a:r>
            <a:br>
              <a:rPr lang="en-US" sz="2000" dirty="0"/>
            </a:br>
            <a:r>
              <a:rPr lang="en-US" sz="2000" dirty="0">
                <a:hlinkClick r:id="rId5"/>
              </a:rPr>
              <a:t>https://docs.snowflake.com/en/user-guide/ui-query-profile</a:t>
            </a:r>
            <a:endParaRPr lang="en-US" sz="2000" dirty="0"/>
          </a:p>
          <a:p>
            <a:r>
              <a:rPr lang="en-US" sz="2000" dirty="0"/>
              <a:t>Snowflake Inc. (2025). </a:t>
            </a:r>
            <a:r>
              <a:rPr lang="en-US" sz="2000" b="1" dirty="0"/>
              <a:t>Clustering Keys &amp; Micro-Partitioning</a:t>
            </a:r>
            <a:br>
              <a:rPr lang="en-US" sz="2000" dirty="0"/>
            </a:br>
            <a:r>
              <a:rPr lang="en-US" sz="2000" dirty="0">
                <a:hlinkClick r:id="rId6"/>
              </a:rPr>
              <a:t>https://docs.snowflake.com/en/user-guide/tables-clustering-keys</a:t>
            </a:r>
            <a:endParaRPr lang="en-US" sz="2000" dirty="0"/>
          </a:p>
          <a:p>
            <a:r>
              <a:rPr lang="en-US" sz="2000" dirty="0"/>
              <a:t>Snowflake Inc. (2025). </a:t>
            </a:r>
            <a:r>
              <a:rPr lang="en-US" sz="2000" b="1" dirty="0"/>
              <a:t>Semi-Structured Data (VARIANT)</a:t>
            </a:r>
            <a:br>
              <a:rPr lang="en-US" sz="2000" dirty="0"/>
            </a:br>
            <a:r>
              <a:rPr lang="en-US" sz="2000" dirty="0"/>
              <a:t>https://</a:t>
            </a:r>
            <a:r>
              <a:rPr lang="en-US" sz="2000" dirty="0" err="1"/>
              <a:t>docs.snowflake.com</a:t>
            </a:r>
            <a:r>
              <a:rPr lang="en-US" sz="2000" dirty="0"/>
              <a:t>/</a:t>
            </a:r>
            <a:r>
              <a:rPr lang="en-US" sz="2000" dirty="0" err="1"/>
              <a:t>en</a:t>
            </a:r>
            <a:r>
              <a:rPr lang="en-US" sz="2000" dirty="0"/>
              <a:t>/user-guide/</a:t>
            </a:r>
            <a:r>
              <a:rPr lang="en-US" sz="2000" dirty="0" err="1"/>
              <a:t>semistructured</a:t>
            </a:r>
            <a:r>
              <a:rPr lang="en-US" sz="2000" dirty="0"/>
              <a:t>-overview</a:t>
            </a:r>
          </a:p>
          <a:p>
            <a:r>
              <a:rPr lang="en-US" sz="2000" dirty="0"/>
              <a:t>Snowflake Inc. (2025). </a:t>
            </a:r>
            <a:r>
              <a:rPr lang="en-US" sz="2000" b="1" dirty="0"/>
              <a:t>Time Travel &amp; Data Retention</a:t>
            </a:r>
            <a:br>
              <a:rPr lang="en-US" sz="2000" dirty="0"/>
            </a:br>
            <a:r>
              <a:rPr lang="en-US" sz="2000" dirty="0">
                <a:hlinkClick r:id="rId7"/>
              </a:rPr>
              <a:t>https://docs.snowflake.com/en/user-guide/data-time-travel</a:t>
            </a:r>
            <a:endParaRPr lang="en-US" sz="2000" dirty="0"/>
          </a:p>
          <a:p>
            <a:r>
              <a:rPr lang="en-US" sz="2000" dirty="0"/>
              <a:t>Garcia-Molina, H., Ullman, J. D., &amp; Widom, J. (2008).</a:t>
            </a:r>
            <a:br>
              <a:rPr lang="en-US" sz="2000" dirty="0"/>
            </a:br>
            <a:r>
              <a:rPr lang="en-US" sz="2000" b="1" dirty="0"/>
              <a:t>Database Systems: The Complete Book.</a:t>
            </a:r>
            <a:r>
              <a:rPr lang="en-US" sz="2000" dirty="0"/>
              <a:t> Pearson Education.</a:t>
            </a:r>
          </a:p>
          <a:p>
            <a:r>
              <a:rPr lang="en-US" sz="2000" dirty="0"/>
              <a:t>Medallion Architecture (2024).</a:t>
            </a:r>
            <a:br>
              <a:rPr lang="en-US" sz="2000" dirty="0"/>
            </a:br>
            <a:r>
              <a:rPr lang="en-US" sz="2000" b="1" dirty="0"/>
              <a:t>Bronze, Silver, Gold Data Design Pattern.</a:t>
            </a:r>
            <a:br>
              <a:rPr lang="en-US" sz="2000" dirty="0"/>
            </a:br>
            <a:r>
              <a:rPr lang="en-US" sz="2000" dirty="0">
                <a:hlinkClick r:id="rId8"/>
              </a:rPr>
              <a:t>https://www.databricks.com/glossary/medallion-architecture</a:t>
            </a:r>
            <a:endParaRPr lang="en-US" sz="2000" dirty="0"/>
          </a:p>
          <a:p>
            <a:pPr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D5E12C-DFE9-5F02-C36F-6690C924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61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C896C-16A1-CD50-BDC7-CF6D9255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2ABC6BF-09A4-80E7-2E30-CC37FDA11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674D8-0B92-3EBE-E7D8-567CADFAD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660650-D640-5C64-E322-CD2C4D69A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10214D-9C2B-2AED-7552-5C24014C4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C294643-FB9F-328E-EC47-5871B1AF1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879203-60B7-C602-3F12-445B63DAC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0F575-F396-CF1F-C220-4F2496C2B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5753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AI USAGE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D46B7A7-2972-154C-76AE-925998D49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CD9EA5-DB70-C673-0312-6C6534926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A95EAD-D346-AB42-8338-702F932DC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E9E9C1-F1FE-AA51-30E8-E70588DFF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57ED8387-0859-C1B1-8963-7349F751E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2" y="2180496"/>
            <a:ext cx="11029615" cy="36783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Artificial intelligence tools were used in a limited and assistive capacity during this project.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Specifically,  AI was used to generate synthetic sample data for the Bronze layer in order to simulate realistic event streams for testing lineage traversal, Medallion transformations, and observability queries.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AI was also used as a language-assistance tool to refine documentation and presentation phrasing.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9F6C0-1BF8-3B25-2376-03401E92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8603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1344</TotalTime>
  <Words>665</Words>
  <Application>Microsoft Macintosh PowerPoint</Application>
  <PresentationFormat>Widescreen</PresentationFormat>
  <Paragraphs>121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Gill Sans MT</vt:lpstr>
      <vt:lpstr>Wingdings 2</vt:lpstr>
      <vt:lpstr>Dividend</vt:lpstr>
      <vt:lpstr>Operational Metadata Modeling and Pipeline Observability in Snowflake</vt:lpstr>
      <vt:lpstr>Industry Problem: Limited Pipeline Observability in Modern Data Platforms</vt:lpstr>
      <vt:lpstr>PROJECT OBJECTIVE</vt:lpstr>
      <vt:lpstr>PowerPoint Presentation</vt:lpstr>
      <vt:lpstr>Positioning the OPS Layer in Modern Data Architecture</vt:lpstr>
      <vt:lpstr>PROJECT OBJECTIVE</vt:lpstr>
      <vt:lpstr>Graph-Based Lineage Modeling</vt:lpstr>
      <vt:lpstr>Recursive Lineage Traversal </vt:lpstr>
      <vt:lpstr>Logical Plan Analysis with EXPLAIN</vt:lpstr>
      <vt:lpstr>Distributed Execution Analysis (Query Profile)</vt:lpstr>
      <vt:lpstr>Clustering Strategy &amp; Micro-Partition Evaluation</vt:lpstr>
      <vt:lpstr>Semi-Structured Operational Metadata with VARIANT</vt:lpstr>
      <vt:lpstr>Temporal Querying &amp; Recovery  with Snowflake  Time Travel</vt:lpstr>
      <vt:lpstr>SLA Monitoring &amp; Operational Observability</vt:lpstr>
      <vt:lpstr>Operational Failure Monitoring</vt:lpstr>
      <vt:lpstr>Data Quality Observability</vt:lpstr>
      <vt:lpstr>REFERENCES</vt:lpstr>
      <vt:lpstr>AI USAGE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Sedar Sahin</dc:creator>
  <cp:lastModifiedBy>Sedar Sahin</cp:lastModifiedBy>
  <cp:revision>46</cp:revision>
  <dcterms:created xsi:type="dcterms:W3CDTF">2026-02-23T03:56:33Z</dcterms:created>
  <dcterms:modified xsi:type="dcterms:W3CDTF">2026-02-25T13:20:04Z</dcterms:modified>
</cp:coreProperties>
</file>